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nton" pitchFamily="2" charset="0"/>
      <p:regular r:id="rId14"/>
    </p:embeddedFont>
    <p:embeddedFont>
      <p:font typeface="DM Sans" pitchFamily="2" charset="0"/>
      <p:regular r:id="rId15"/>
    </p:embeddedFont>
    <p:embeddedFont>
      <p:font typeface="DM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977" r="-16350" b="-48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9996" y="1773763"/>
            <a:ext cx="1874529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3341" y="7811850"/>
            <a:ext cx="4819252" cy="706149"/>
            <a:chOff x="0" y="0"/>
            <a:chExt cx="1041123" cy="1525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1123" cy="152552"/>
            </a:xfrm>
            <a:custGeom>
              <a:avLst/>
              <a:gdLst/>
              <a:ahLst/>
              <a:cxnLst/>
              <a:rect l="l" t="t" r="r" b="b"/>
              <a:pathLst>
                <a:path w="1041123" h="152552">
                  <a:moveTo>
                    <a:pt x="0" y="0"/>
                  </a:moveTo>
                  <a:lnTo>
                    <a:pt x="1041123" y="0"/>
                  </a:lnTo>
                  <a:lnTo>
                    <a:pt x="1041123" y="152552"/>
                  </a:lnTo>
                  <a:lnTo>
                    <a:pt x="0" y="152552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041123" cy="200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000125"/>
            <a:ext cx="2410664" cy="21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0"/>
              </a:lnSpc>
              <a:spcBef>
                <a:spcPct val="0"/>
              </a:spcBef>
            </a:pPr>
            <a:r>
              <a:rPr lang="en-US" sz="127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SLIIT 2ND YEAR 2ND SEMESTER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1626" y="2102729"/>
            <a:ext cx="7429346" cy="415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38B6FF"/>
                </a:solidFill>
                <a:latin typeface="DM Sans"/>
                <a:ea typeface="DM Sans"/>
                <a:cs typeface="DM Sans"/>
                <a:sym typeface="DM Sans"/>
              </a:rPr>
              <a:t>Introduction to Cyber Security (IE2092)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714" y="7933440"/>
            <a:ext cx="4167404" cy="415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H.M.Aaqib | IT24102514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626" y="6373403"/>
            <a:ext cx="7920229" cy="845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Exploring AI-driven synthetic media as an emerging cybersecurity challenge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874" y="2773353"/>
            <a:ext cx="8672048" cy="88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8"/>
              </a:lnSpc>
            </a:pPr>
            <a:r>
              <a:rPr lang="en-US" sz="652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DEEPFAKE TECHNOLOGY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9874" y="4385264"/>
            <a:ext cx="8672048" cy="888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8"/>
              </a:lnSpc>
            </a:pPr>
            <a:r>
              <a:rPr lang="en-US" sz="6527">
                <a:solidFill>
                  <a:srgbClr val="38B6FF"/>
                </a:solidFill>
                <a:latin typeface="Anton"/>
                <a:ea typeface="Anton"/>
                <a:cs typeface="Anton"/>
                <a:sym typeface="Anton"/>
              </a:rPr>
              <a:t>AS A CYBERSECURITY THREAT</a:t>
            </a:r>
          </a:p>
        </p:txBody>
      </p:sp>
      <p:sp>
        <p:nvSpPr>
          <p:cNvPr id="13" name="AutoShape 13"/>
          <p:cNvSpPr/>
          <p:nvPr/>
        </p:nvSpPr>
        <p:spPr>
          <a:xfrm>
            <a:off x="0" y="9652029"/>
            <a:ext cx="12775099" cy="0"/>
          </a:xfrm>
          <a:prstGeom prst="line">
            <a:avLst/>
          </a:prstGeom>
          <a:ln w="38100" cap="flat">
            <a:solidFill>
              <a:srgbClr val="38B6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875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515780" y="2408213"/>
            <a:ext cx="4916336" cy="8437806"/>
            <a:chOff x="0" y="0"/>
            <a:chExt cx="670263" cy="1150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0263" cy="1150359"/>
            </a:xfrm>
            <a:custGeom>
              <a:avLst/>
              <a:gdLst/>
              <a:ahLst/>
              <a:cxnLst/>
              <a:rect l="l" t="t" r="r" b="b"/>
              <a:pathLst>
                <a:path w="670263" h="1150359">
                  <a:moveTo>
                    <a:pt x="0" y="0"/>
                  </a:moveTo>
                  <a:lnTo>
                    <a:pt x="670263" y="0"/>
                  </a:lnTo>
                  <a:lnTo>
                    <a:pt x="670263" y="1150359"/>
                  </a:lnTo>
                  <a:lnTo>
                    <a:pt x="0" y="1150359"/>
                  </a:lnTo>
                  <a:close/>
                </a:path>
              </a:pathLst>
            </a:custGeom>
            <a:blipFill>
              <a:blip r:embed="rId2"/>
              <a:stretch>
                <a:fillRect t="-1110" b="-11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502004"/>
            <a:ext cx="142291" cy="2291579"/>
            <a:chOff x="0" y="0"/>
            <a:chExt cx="37476" cy="603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476" cy="603543"/>
            </a:xfrm>
            <a:custGeom>
              <a:avLst/>
              <a:gdLst/>
              <a:ahLst/>
              <a:cxnLst/>
              <a:rect l="l" t="t" r="r" b="b"/>
              <a:pathLst>
                <a:path w="37476" h="603543">
                  <a:moveTo>
                    <a:pt x="0" y="0"/>
                  </a:moveTo>
                  <a:lnTo>
                    <a:pt x="37476" y="0"/>
                  </a:lnTo>
                  <a:lnTo>
                    <a:pt x="37476" y="603543"/>
                  </a:lnTo>
                  <a:lnTo>
                    <a:pt x="0" y="603543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476" cy="641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796295"/>
            <a:ext cx="142291" cy="2291579"/>
            <a:chOff x="0" y="0"/>
            <a:chExt cx="37476" cy="6035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476" cy="603543"/>
            </a:xfrm>
            <a:custGeom>
              <a:avLst/>
              <a:gdLst/>
              <a:ahLst/>
              <a:cxnLst/>
              <a:rect l="l" t="t" r="r" b="b"/>
              <a:pathLst>
                <a:path w="37476" h="603543">
                  <a:moveTo>
                    <a:pt x="0" y="0"/>
                  </a:moveTo>
                  <a:lnTo>
                    <a:pt x="37476" y="0"/>
                  </a:lnTo>
                  <a:lnTo>
                    <a:pt x="37476" y="603543"/>
                  </a:lnTo>
                  <a:lnTo>
                    <a:pt x="0" y="603543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7476" cy="641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928934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990600"/>
            <a:ext cx="2410664" cy="656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TECHNOLOGY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28934" y="990600"/>
            <a:ext cx="4167404" cy="3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23802" y="3348542"/>
            <a:ext cx="5321097" cy="1140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68"/>
              </a:lnSpc>
            </a:pPr>
            <a:r>
              <a:rPr lang="en-US" sz="83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AGENDA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56586" y="2503463"/>
            <a:ext cx="1224677" cy="95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11"/>
              </a:lnSpc>
            </a:pPr>
            <a:r>
              <a:rPr lang="en-US" sz="69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6586" y="5797754"/>
            <a:ext cx="1224677" cy="957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11"/>
              </a:lnSpc>
            </a:pPr>
            <a:r>
              <a:rPr lang="en-US" sz="693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31101" y="2519466"/>
            <a:ext cx="5765237" cy="41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2436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 Overview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88770" y="7052823"/>
            <a:ext cx="5707568" cy="1313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Multimodal Deepfakes</a:t>
            </a:r>
          </a:p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Contemporary Threat Landscape</a:t>
            </a:r>
          </a:p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Future Developments</a:t>
            </a:r>
          </a:p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Conclusion and Recommendations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56586" y="3758532"/>
            <a:ext cx="3118519" cy="1313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Abstract Overview</a:t>
            </a:r>
          </a:p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Introduction to Deepfakes</a:t>
            </a:r>
          </a:p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Evolution Timeline 2014-2025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56586" y="7052823"/>
            <a:ext cx="3118519" cy="1313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GAN Origins and Consumer Access</a:t>
            </a:r>
          </a:p>
          <a:p>
            <a:pPr marL="0" lvl="0" indent="0" algn="l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Corporate Fraud and Voice Cloning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05132" y="6001485"/>
            <a:ext cx="12877736" cy="4566576"/>
            <a:chOff x="0" y="0"/>
            <a:chExt cx="1755672" cy="6225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5672" cy="622579"/>
            </a:xfrm>
            <a:custGeom>
              <a:avLst/>
              <a:gdLst/>
              <a:ahLst/>
              <a:cxnLst/>
              <a:rect l="l" t="t" r="r" b="b"/>
              <a:pathLst>
                <a:path w="1755672" h="622579">
                  <a:moveTo>
                    <a:pt x="0" y="0"/>
                  </a:moveTo>
                  <a:lnTo>
                    <a:pt x="1755672" y="0"/>
                  </a:lnTo>
                  <a:lnTo>
                    <a:pt x="1755672" y="622579"/>
                  </a:lnTo>
                  <a:lnTo>
                    <a:pt x="0" y="622579"/>
                  </a:lnTo>
                  <a:close/>
                </a:path>
              </a:pathLst>
            </a:custGeom>
            <a:blipFill>
              <a:blip r:embed="rId2"/>
              <a:stretch>
                <a:fillRect t="-30369" b="-303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3507" y="4367351"/>
            <a:ext cx="3731714" cy="4087475"/>
            <a:chOff x="0" y="0"/>
            <a:chExt cx="982838" cy="10765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2838" cy="1076537"/>
            </a:xfrm>
            <a:custGeom>
              <a:avLst/>
              <a:gdLst/>
              <a:ahLst/>
              <a:cxnLst/>
              <a:rect l="l" t="t" r="r" b="b"/>
              <a:pathLst>
                <a:path w="982838" h="1076537">
                  <a:moveTo>
                    <a:pt x="0" y="0"/>
                  </a:moveTo>
                  <a:lnTo>
                    <a:pt x="982838" y="0"/>
                  </a:lnTo>
                  <a:lnTo>
                    <a:pt x="982838" y="1076537"/>
                  </a:lnTo>
                  <a:lnTo>
                    <a:pt x="0" y="1076537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82838" cy="1114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46779" y="4367351"/>
            <a:ext cx="3731714" cy="4087475"/>
            <a:chOff x="0" y="0"/>
            <a:chExt cx="982838" cy="10765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2838" cy="1076537"/>
            </a:xfrm>
            <a:custGeom>
              <a:avLst/>
              <a:gdLst/>
              <a:ahLst/>
              <a:cxnLst/>
              <a:rect l="l" t="t" r="r" b="b"/>
              <a:pathLst>
                <a:path w="982838" h="1076537">
                  <a:moveTo>
                    <a:pt x="0" y="0"/>
                  </a:moveTo>
                  <a:lnTo>
                    <a:pt x="982838" y="0"/>
                  </a:lnTo>
                  <a:lnTo>
                    <a:pt x="982838" y="1076537"/>
                  </a:lnTo>
                  <a:lnTo>
                    <a:pt x="0" y="1076537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82838" cy="1114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85678" y="6223791"/>
            <a:ext cx="2707372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AI-driven deepfakes evolved from research novelty to major cybersecurity threat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9301" y="6223791"/>
            <a:ext cx="2866669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GANs enable hyper-realistic synthetic media manipulation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90600"/>
            <a:ext cx="2410664" cy="1323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TECHNOLOGY AS A CYBERSECURITY THREAT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28934" y="990600"/>
            <a:ext cx="4167404" cy="3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55241" y="2603148"/>
            <a:ext cx="9977517" cy="114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62"/>
              </a:lnSpc>
            </a:pPr>
            <a:r>
              <a:rPr lang="en-US" sz="83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ABSTRACT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1286" y="4963260"/>
            <a:ext cx="1576154" cy="114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62"/>
              </a:lnSpc>
            </a:pPr>
            <a:r>
              <a:rPr lang="en-US" sz="83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24559" y="4963260"/>
            <a:ext cx="1576154" cy="114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62"/>
              </a:lnSpc>
            </a:pPr>
            <a:r>
              <a:rPr lang="en-US" sz="83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29327" y="1877180"/>
            <a:ext cx="7429346" cy="41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1"/>
              </a:lnSpc>
              <a:spcBef>
                <a:spcPct val="0"/>
              </a:spcBef>
            </a:pPr>
            <a:r>
              <a:rPr lang="en-US" sz="2436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Key Themes 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280324"/>
            <a:ext cx="7859474" cy="5704859"/>
            <a:chOff x="0" y="0"/>
            <a:chExt cx="659068" cy="4783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9068" cy="478390"/>
            </a:xfrm>
            <a:custGeom>
              <a:avLst/>
              <a:gdLst/>
              <a:ahLst/>
              <a:cxnLst/>
              <a:rect l="l" t="t" r="r" b="b"/>
              <a:pathLst>
                <a:path w="659068" h="478390">
                  <a:moveTo>
                    <a:pt x="0" y="0"/>
                  </a:moveTo>
                  <a:lnTo>
                    <a:pt x="659068" y="0"/>
                  </a:lnTo>
                  <a:lnTo>
                    <a:pt x="659068" y="478390"/>
                  </a:lnTo>
                  <a:lnTo>
                    <a:pt x="0" y="478390"/>
                  </a:lnTo>
                  <a:close/>
                </a:path>
              </a:pathLst>
            </a:custGeom>
            <a:blipFill>
              <a:blip r:embed="rId2"/>
              <a:stretch>
                <a:fillRect t="-1404" b="-14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8083" y="4719878"/>
            <a:ext cx="4189183" cy="4021302"/>
            <a:chOff x="0" y="0"/>
            <a:chExt cx="1103324" cy="10591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3324" cy="1059108"/>
            </a:xfrm>
            <a:custGeom>
              <a:avLst/>
              <a:gdLst/>
              <a:ahLst/>
              <a:cxnLst/>
              <a:rect l="l" t="t" r="r" b="b"/>
              <a:pathLst>
                <a:path w="1103324" h="1059108">
                  <a:moveTo>
                    <a:pt x="0" y="0"/>
                  </a:moveTo>
                  <a:lnTo>
                    <a:pt x="1103324" y="0"/>
                  </a:lnTo>
                  <a:lnTo>
                    <a:pt x="1103324" y="1059108"/>
                  </a:lnTo>
                  <a:lnTo>
                    <a:pt x="0" y="1059108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03324" cy="1097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928934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953184" y="5179784"/>
            <a:ext cx="1019691" cy="908913"/>
          </a:xfrm>
          <a:custGeom>
            <a:avLst/>
            <a:gdLst/>
            <a:ahLst/>
            <a:cxnLst/>
            <a:rect l="l" t="t" r="r" b="b"/>
            <a:pathLst>
              <a:path w="1019691" h="908913">
                <a:moveTo>
                  <a:pt x="0" y="0"/>
                </a:moveTo>
                <a:lnTo>
                  <a:pt x="1019691" y="0"/>
                </a:lnTo>
                <a:lnTo>
                  <a:pt x="1019691" y="908914"/>
                </a:lnTo>
                <a:lnTo>
                  <a:pt x="0" y="908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1000125"/>
            <a:ext cx="2410664" cy="817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en-US" sz="1571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TECHNOLOGY AS A CYBERSECURITY THREAT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934" y="990600"/>
            <a:ext cx="416740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55491" y="3462210"/>
            <a:ext cx="6540847" cy="223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62"/>
              </a:lnSpc>
            </a:pPr>
            <a:r>
              <a:rPr lang="en-US" sz="832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WHAT ARE DEEPFAKES?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7367" y="6367460"/>
            <a:ext cx="3450614" cy="169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98"/>
              </a:lnSpc>
            </a:pPr>
            <a:r>
              <a:rPr lang="en-US" sz="432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INTRODUCTION TO THE EMERGING DIGITAL THREAT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55491" y="2642659"/>
            <a:ext cx="5765237" cy="32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2"/>
              </a:lnSpc>
              <a:spcBef>
                <a:spcPct val="0"/>
              </a:spcBef>
            </a:pPr>
            <a:r>
              <a:rPr lang="en-US" sz="1887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 – Defining the Threat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55491" y="6085579"/>
            <a:ext cx="5874214" cy="185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Deepfake = deep learning + fake AI-generated synthetic media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Exploits human perception and trust in audiovisual content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900% growth in deepfake videos between 2018 and 2020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Consequences: financial fraud, political manipulation, trust erosion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Social engineering attacks bypass traditional security measures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43440" y="2272811"/>
            <a:ext cx="5708001" cy="6360694"/>
            <a:chOff x="0" y="0"/>
            <a:chExt cx="778194" cy="86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8194" cy="867178"/>
            </a:xfrm>
            <a:custGeom>
              <a:avLst/>
              <a:gdLst/>
              <a:ahLst/>
              <a:cxnLst/>
              <a:rect l="l" t="t" r="r" b="b"/>
              <a:pathLst>
                <a:path w="778194" h="867178">
                  <a:moveTo>
                    <a:pt x="0" y="0"/>
                  </a:moveTo>
                  <a:lnTo>
                    <a:pt x="778194" y="0"/>
                  </a:lnTo>
                  <a:lnTo>
                    <a:pt x="778194" y="867178"/>
                  </a:lnTo>
                  <a:lnTo>
                    <a:pt x="0" y="867178"/>
                  </a:lnTo>
                  <a:close/>
                </a:path>
              </a:pathLst>
            </a:custGeom>
            <a:blipFill>
              <a:blip r:embed="rId2"/>
              <a:stretch>
                <a:fillRect t="-5479" b="-547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94569" y="2272811"/>
            <a:ext cx="3735861" cy="9219189"/>
            <a:chOff x="0" y="0"/>
            <a:chExt cx="509324" cy="1256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324" cy="1256888"/>
            </a:xfrm>
            <a:custGeom>
              <a:avLst/>
              <a:gdLst/>
              <a:ahLst/>
              <a:cxnLst/>
              <a:rect l="l" t="t" r="r" b="b"/>
              <a:pathLst>
                <a:path w="509324" h="1256888">
                  <a:moveTo>
                    <a:pt x="0" y="0"/>
                  </a:moveTo>
                  <a:lnTo>
                    <a:pt x="509324" y="0"/>
                  </a:lnTo>
                  <a:lnTo>
                    <a:pt x="509324" y="1256888"/>
                  </a:lnTo>
                  <a:lnTo>
                    <a:pt x="0" y="1256888"/>
                  </a:lnTo>
                  <a:close/>
                </a:path>
              </a:pathLst>
            </a:custGeom>
            <a:blipFill>
              <a:blip r:embed="rId3"/>
              <a:stretch>
                <a:fillRect l="-20331" r="-203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395429" y="8325838"/>
            <a:ext cx="6447025" cy="3698981"/>
          </a:xfrm>
          <a:custGeom>
            <a:avLst/>
            <a:gdLst/>
            <a:ahLst/>
            <a:cxnLst/>
            <a:rect l="l" t="t" r="r" b="b"/>
            <a:pathLst>
              <a:path w="6447025" h="3698981">
                <a:moveTo>
                  <a:pt x="0" y="0"/>
                </a:moveTo>
                <a:lnTo>
                  <a:pt x="6447025" y="0"/>
                </a:lnTo>
                <a:lnTo>
                  <a:pt x="6447025" y="3698980"/>
                </a:lnTo>
                <a:lnTo>
                  <a:pt x="0" y="3698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990600"/>
            <a:ext cx="2410664" cy="656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EVOLUTION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29954" y="2586635"/>
            <a:ext cx="7429346" cy="41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1"/>
              </a:lnSpc>
              <a:spcBef>
                <a:spcPct val="0"/>
              </a:spcBef>
            </a:pPr>
            <a:r>
              <a:rPr lang="en-US" sz="2436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From Research to Global Threat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29954" y="5903315"/>
            <a:ext cx="7314007" cy="165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2014-2017: Academic Origins – GAN architecture introduced</a:t>
            </a:r>
          </a:p>
          <a:p>
            <a:pPr marL="0" lvl="0" indent="0"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2017-2019: Consumer Access – DeepFaceLab, FaceSwap tools</a:t>
            </a:r>
          </a:p>
          <a:p>
            <a:pPr marL="0" lvl="0" indent="0"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2019-2021: Corporate Fraud – Voice cloning, €220k loss</a:t>
            </a:r>
          </a:p>
          <a:p>
            <a:pPr marL="0" lvl="0" indent="0"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2021-2023: Multimodal Deepfakes – $25M Hong Kong fraud</a:t>
            </a:r>
          </a:p>
          <a:p>
            <a:pPr marL="0" lvl="0" indent="0" algn="l">
              <a:lnSpc>
                <a:spcPts val="2666"/>
              </a:lnSpc>
              <a:spcBef>
                <a:spcPct val="0"/>
              </a:spcBef>
            </a:pPr>
            <a:r>
              <a:rPr lang="en-US" sz="19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2023-2025: Contemporary Threat – DaaS, state-sponsored ops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934" y="985821"/>
            <a:ext cx="4167404" cy="3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88203" y="3396661"/>
            <a:ext cx="6578163" cy="186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5"/>
              </a:lnSpc>
            </a:pPr>
            <a:r>
              <a:rPr lang="en-US" sz="697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EVOLUTION TIMELINE 2014-2025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39062" y="2227202"/>
            <a:ext cx="7020238" cy="3145789"/>
            <a:chOff x="0" y="0"/>
            <a:chExt cx="957096" cy="4288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7096" cy="428878"/>
            </a:xfrm>
            <a:custGeom>
              <a:avLst/>
              <a:gdLst/>
              <a:ahLst/>
              <a:cxnLst/>
              <a:rect l="l" t="t" r="r" b="b"/>
              <a:pathLst>
                <a:path w="957096" h="428878">
                  <a:moveTo>
                    <a:pt x="0" y="0"/>
                  </a:moveTo>
                  <a:lnTo>
                    <a:pt x="957096" y="0"/>
                  </a:lnTo>
                  <a:lnTo>
                    <a:pt x="957096" y="428878"/>
                  </a:lnTo>
                  <a:lnTo>
                    <a:pt x="0" y="428878"/>
                  </a:lnTo>
                  <a:close/>
                </a:path>
              </a:pathLst>
            </a:custGeom>
            <a:blipFill>
              <a:blip r:embed="rId2"/>
              <a:stretch>
                <a:fillRect t="-13601" b="-136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692771"/>
            <a:ext cx="8467798" cy="3318385"/>
            <a:chOff x="0" y="0"/>
            <a:chExt cx="1154448" cy="4524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4448" cy="452408"/>
            </a:xfrm>
            <a:custGeom>
              <a:avLst/>
              <a:gdLst/>
              <a:ahLst/>
              <a:cxnLst/>
              <a:rect l="l" t="t" r="r" b="b"/>
              <a:pathLst>
                <a:path w="1154448" h="452408">
                  <a:moveTo>
                    <a:pt x="0" y="0"/>
                  </a:moveTo>
                  <a:lnTo>
                    <a:pt x="1154448" y="0"/>
                  </a:lnTo>
                  <a:lnTo>
                    <a:pt x="1154448" y="452408"/>
                  </a:lnTo>
                  <a:lnTo>
                    <a:pt x="0" y="452408"/>
                  </a:lnTo>
                  <a:close/>
                </a:path>
              </a:pathLst>
            </a:custGeom>
            <a:blipFill>
              <a:blip r:embed="rId3"/>
              <a:stretch>
                <a:fillRect t="-22725" b="-227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39062" y="6707628"/>
            <a:ext cx="666460" cy="722984"/>
          </a:xfrm>
          <a:custGeom>
            <a:avLst/>
            <a:gdLst/>
            <a:ahLst/>
            <a:cxnLst/>
            <a:rect l="l" t="t" r="r" b="b"/>
            <a:pathLst>
              <a:path w="666460" h="722984">
                <a:moveTo>
                  <a:pt x="0" y="0"/>
                </a:moveTo>
                <a:lnTo>
                  <a:pt x="666460" y="0"/>
                </a:lnTo>
                <a:lnTo>
                  <a:pt x="666460" y="722984"/>
                </a:lnTo>
                <a:lnTo>
                  <a:pt x="0" y="722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928934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028700" y="990600"/>
            <a:ext cx="2410664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39062" y="6092062"/>
            <a:ext cx="3510119" cy="27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4"/>
              </a:lnSpc>
              <a:spcBef>
                <a:spcPct val="0"/>
              </a:spcBef>
            </a:pPr>
            <a:r>
              <a:rPr lang="en-US" sz="166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GAN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934" y="990600"/>
            <a:ext cx="416740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2014-2019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1401" y="2798500"/>
            <a:ext cx="8375097" cy="161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57"/>
              </a:lnSpc>
            </a:pPr>
            <a:r>
              <a:rPr lang="en-US" sz="60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GAN ORIGINS &amp; CONSUMER ACCESS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026574"/>
            <a:ext cx="7429346" cy="28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4"/>
              </a:lnSpc>
              <a:spcBef>
                <a:spcPct val="0"/>
              </a:spcBef>
            </a:pPr>
            <a:r>
              <a:rPr lang="en-US" sz="1760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The Democratization of Deepfake Technology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39062" y="7704631"/>
            <a:ext cx="7020238" cy="734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2017: DeepFaceLab and FaceSwap tools released publicly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96% of 2019 deepfakes were non-consensual intimate imagery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Democratization lowered barriers for malicious actors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19765" y="6747987"/>
            <a:ext cx="5625637" cy="487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2014: Ian Goodfellow introduces Generative Adversarial Networks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Generator and discriminator networks compete adversarially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138" y="6273239"/>
            <a:ext cx="3322213" cy="2696397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529028" y="2784564"/>
            <a:ext cx="5937056" cy="5629264"/>
            <a:chOff x="0" y="0"/>
            <a:chExt cx="520811" cy="4938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0811" cy="493811"/>
            </a:xfrm>
            <a:custGeom>
              <a:avLst/>
              <a:gdLst/>
              <a:ahLst/>
              <a:cxnLst/>
              <a:rect l="l" t="t" r="r" b="b"/>
              <a:pathLst>
                <a:path w="520811" h="493811">
                  <a:moveTo>
                    <a:pt x="0" y="0"/>
                  </a:moveTo>
                  <a:lnTo>
                    <a:pt x="520811" y="0"/>
                  </a:lnTo>
                  <a:lnTo>
                    <a:pt x="520811" y="493811"/>
                  </a:lnTo>
                  <a:lnTo>
                    <a:pt x="0" y="493811"/>
                  </a:lnTo>
                  <a:close/>
                </a:path>
              </a:pathLst>
            </a:custGeom>
            <a:blipFill>
              <a:blip r:embed="rId3"/>
              <a:stretch>
                <a:fillRect t="-2733" b="-2733"/>
              </a:stretch>
            </a:blipFill>
            <a:ln w="66675" cap="sq">
              <a:solidFill>
                <a:srgbClr val="0B213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6581" y="5912715"/>
            <a:ext cx="142291" cy="1002134"/>
            <a:chOff x="0" y="0"/>
            <a:chExt cx="37476" cy="2639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476" cy="263936"/>
            </a:xfrm>
            <a:custGeom>
              <a:avLst/>
              <a:gdLst/>
              <a:ahLst/>
              <a:cxnLst/>
              <a:rect l="l" t="t" r="r" b="b"/>
              <a:pathLst>
                <a:path w="37476" h="263936">
                  <a:moveTo>
                    <a:pt x="0" y="0"/>
                  </a:moveTo>
                  <a:lnTo>
                    <a:pt x="37476" y="0"/>
                  </a:lnTo>
                  <a:lnTo>
                    <a:pt x="37476" y="263936"/>
                  </a:lnTo>
                  <a:lnTo>
                    <a:pt x="0" y="263936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476" cy="302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6581" y="7321187"/>
            <a:ext cx="142291" cy="649709"/>
            <a:chOff x="0" y="0"/>
            <a:chExt cx="37476" cy="1711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476" cy="171117"/>
            </a:xfrm>
            <a:custGeom>
              <a:avLst/>
              <a:gdLst/>
              <a:ahLst/>
              <a:cxnLst/>
              <a:rect l="l" t="t" r="r" b="b"/>
              <a:pathLst>
                <a:path w="37476" h="171117">
                  <a:moveTo>
                    <a:pt x="0" y="0"/>
                  </a:moveTo>
                  <a:lnTo>
                    <a:pt x="37476" y="0"/>
                  </a:lnTo>
                  <a:lnTo>
                    <a:pt x="37476" y="171117"/>
                  </a:lnTo>
                  <a:lnTo>
                    <a:pt x="0" y="171117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7476" cy="209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1652901" y="8351973"/>
            <a:ext cx="6441349" cy="3735982"/>
          </a:xfrm>
          <a:custGeom>
            <a:avLst/>
            <a:gdLst/>
            <a:ahLst/>
            <a:cxnLst/>
            <a:rect l="l" t="t" r="r" b="b"/>
            <a:pathLst>
              <a:path w="6441349" h="3735982">
                <a:moveTo>
                  <a:pt x="0" y="0"/>
                </a:moveTo>
                <a:lnTo>
                  <a:pt x="6441349" y="0"/>
                </a:lnTo>
                <a:lnTo>
                  <a:pt x="6441349" y="3735983"/>
                </a:lnTo>
                <a:lnTo>
                  <a:pt x="0" y="3735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990600"/>
            <a:ext cx="2410664" cy="82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6"/>
              </a:lnSpc>
              <a:spcBef>
                <a:spcPct val="0"/>
              </a:spcBef>
            </a:pPr>
            <a:r>
              <a:rPr lang="en-US" sz="159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TECHNOLOGY AS A CYBERSECURITY THREAT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28934" y="990600"/>
            <a:ext cx="416740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6581" y="2563118"/>
            <a:ext cx="7429346" cy="34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7"/>
              </a:lnSpc>
              <a:spcBef>
                <a:spcPct val="0"/>
              </a:spcBef>
            </a:pPr>
            <a:r>
              <a:rPr lang="en-US" sz="2040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The Rise of AI-Powered Fraud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9438" y="5870274"/>
            <a:ext cx="7690691" cy="104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2019: UK energy firm loses €220,000 via AI voice cloning</a:t>
            </a:r>
          </a:p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CEO voice impersonated in real-time phone call</a:t>
            </a:r>
          </a:p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Business Email Compromise integrates deepfake videos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69438" y="7278746"/>
            <a:ext cx="7690691" cy="69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FBI reports $1.8 billion BEC losses in 2020</a:t>
            </a:r>
          </a:p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Political disinformation campaigns target elections globally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4830" y="3335044"/>
            <a:ext cx="7839236" cy="163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2"/>
              </a:lnSpc>
            </a:pPr>
            <a:r>
              <a:rPr lang="en-US" sz="606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CORPORATE FRAUD AND VOICE CLONING (2019-2021)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878401"/>
            <a:ext cx="7078053" cy="3441997"/>
            <a:chOff x="0" y="0"/>
            <a:chExt cx="964978" cy="469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4978" cy="469261"/>
            </a:xfrm>
            <a:custGeom>
              <a:avLst/>
              <a:gdLst/>
              <a:ahLst/>
              <a:cxnLst/>
              <a:rect l="l" t="t" r="r" b="b"/>
              <a:pathLst>
                <a:path w="964978" h="469261">
                  <a:moveTo>
                    <a:pt x="0" y="0"/>
                  </a:moveTo>
                  <a:lnTo>
                    <a:pt x="964978" y="0"/>
                  </a:lnTo>
                  <a:lnTo>
                    <a:pt x="964978" y="469261"/>
                  </a:lnTo>
                  <a:lnTo>
                    <a:pt x="0" y="469261"/>
                  </a:lnTo>
                  <a:close/>
                </a:path>
              </a:pathLst>
            </a:custGeom>
            <a:blipFill>
              <a:blip r:embed="rId2"/>
              <a:stretch>
                <a:fillRect t="-8606" b="-86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10731" y="1878401"/>
            <a:ext cx="11360221" cy="3441997"/>
            <a:chOff x="0" y="0"/>
            <a:chExt cx="1548783" cy="4692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8783" cy="469261"/>
            </a:xfrm>
            <a:custGeom>
              <a:avLst/>
              <a:gdLst/>
              <a:ahLst/>
              <a:cxnLst/>
              <a:rect l="l" t="t" r="r" b="b"/>
              <a:pathLst>
                <a:path w="1548783" h="469261">
                  <a:moveTo>
                    <a:pt x="0" y="0"/>
                  </a:moveTo>
                  <a:lnTo>
                    <a:pt x="1548783" y="0"/>
                  </a:lnTo>
                  <a:lnTo>
                    <a:pt x="1548783" y="469261"/>
                  </a:lnTo>
                  <a:lnTo>
                    <a:pt x="0" y="469261"/>
                  </a:lnTo>
                  <a:close/>
                </a:path>
              </a:pathLst>
            </a:custGeom>
            <a:blipFill>
              <a:blip r:embed="rId3"/>
              <a:stretch>
                <a:fillRect t="-44063" b="-4406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928934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1000125"/>
            <a:ext cx="2410664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TECHNOLOGY AS A CYBERSECURITY THREAT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5972" y="1040121"/>
            <a:ext cx="433036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620276"/>
            <a:ext cx="9235058" cy="2174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35"/>
              </a:lnSpc>
            </a:pPr>
            <a:r>
              <a:rPr lang="en-US" sz="811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MULTIMODAL DEEPFAKES (2021-2023)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810250"/>
            <a:ext cx="5765237" cy="25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5"/>
              </a:lnSpc>
              <a:spcBef>
                <a:spcPct val="0"/>
              </a:spcBef>
            </a:pPr>
            <a:r>
              <a:rPr lang="en-US" sz="1539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$25M Hong Kong Fraud Case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63758" y="7219707"/>
            <a:ext cx="6582731" cy="147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Face, voice, body language manipulated simultaneously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Diffusion models create coherent synthetic narratives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Employee deceived by AI-generated video conference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All participants including CFO were deepfake personas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15 fraudulent transfers authorized</a:t>
            </a:r>
          </a:p>
          <a:p>
            <a:pPr marL="0" lvl="0" indent="0" algn="l">
              <a:lnSpc>
                <a:spcPts val="2021"/>
              </a:lnSpc>
              <a:spcBef>
                <a:spcPct val="0"/>
              </a:spcBef>
            </a:pPr>
            <a:r>
              <a:rPr lang="en-US" sz="14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Deepfake-as-a-Service platforms emerge on dark web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63758" y="6536531"/>
            <a:ext cx="6061800" cy="24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3"/>
              </a:lnSpc>
              <a:spcBef>
                <a:spcPct val="0"/>
              </a:spcBef>
            </a:pPr>
            <a:r>
              <a:rPr lang="en-US" sz="1452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INTEGRATED AI MANIPULATION AT SCALE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05132" y="6001485"/>
            <a:ext cx="12877736" cy="4566576"/>
            <a:chOff x="0" y="0"/>
            <a:chExt cx="1755672" cy="6225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5672" cy="622579"/>
            </a:xfrm>
            <a:custGeom>
              <a:avLst/>
              <a:gdLst/>
              <a:ahLst/>
              <a:cxnLst/>
              <a:rect l="l" t="t" r="r" b="b"/>
              <a:pathLst>
                <a:path w="1755672" h="622579">
                  <a:moveTo>
                    <a:pt x="0" y="0"/>
                  </a:moveTo>
                  <a:lnTo>
                    <a:pt x="1755672" y="0"/>
                  </a:lnTo>
                  <a:lnTo>
                    <a:pt x="1755672" y="622579"/>
                  </a:lnTo>
                  <a:lnTo>
                    <a:pt x="0" y="622579"/>
                  </a:lnTo>
                  <a:close/>
                </a:path>
              </a:pathLst>
            </a:custGeom>
            <a:blipFill>
              <a:blip r:embed="rId2"/>
              <a:stretch>
                <a:fillRect t="-43941" b="-43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3507" y="4367351"/>
            <a:ext cx="3731714" cy="4087475"/>
            <a:chOff x="0" y="0"/>
            <a:chExt cx="982838" cy="10765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2838" cy="1076537"/>
            </a:xfrm>
            <a:custGeom>
              <a:avLst/>
              <a:gdLst/>
              <a:ahLst/>
              <a:cxnLst/>
              <a:rect l="l" t="t" r="r" b="b"/>
              <a:pathLst>
                <a:path w="982838" h="1076537">
                  <a:moveTo>
                    <a:pt x="0" y="0"/>
                  </a:moveTo>
                  <a:lnTo>
                    <a:pt x="982838" y="0"/>
                  </a:lnTo>
                  <a:lnTo>
                    <a:pt x="982838" y="1076537"/>
                  </a:lnTo>
                  <a:lnTo>
                    <a:pt x="0" y="1076537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82838" cy="1114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46779" y="4367351"/>
            <a:ext cx="3731714" cy="4087475"/>
            <a:chOff x="0" y="0"/>
            <a:chExt cx="982838" cy="10765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2838" cy="1076537"/>
            </a:xfrm>
            <a:custGeom>
              <a:avLst/>
              <a:gdLst/>
              <a:ahLst/>
              <a:cxnLst/>
              <a:rect l="l" t="t" r="r" b="b"/>
              <a:pathLst>
                <a:path w="982838" h="1076537">
                  <a:moveTo>
                    <a:pt x="0" y="0"/>
                  </a:moveTo>
                  <a:lnTo>
                    <a:pt x="982838" y="0"/>
                  </a:lnTo>
                  <a:lnTo>
                    <a:pt x="982838" y="1076537"/>
                  </a:lnTo>
                  <a:lnTo>
                    <a:pt x="0" y="1076537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82838" cy="1114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85678" y="6242841"/>
            <a:ext cx="2707372" cy="172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Text-to-video synthesis (OpenAI Sora) enables realistic generation</a:t>
            </a:r>
          </a:p>
          <a:p>
            <a:pPr marL="0" lvl="0" indent="0" algn="ctr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Synthetic identity attacks bypass KYC verification</a:t>
            </a:r>
          </a:p>
          <a:p>
            <a:pPr marL="0" lvl="0" indent="0" algn="ctr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AI phishing and bot networks converge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79301" y="6242841"/>
            <a:ext cx="2866669" cy="147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State-sponsored disinformation targets elections</a:t>
            </a:r>
          </a:p>
          <a:p>
            <a:pPr marL="0" lvl="0" indent="0" algn="ctr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Biometric authentication compromised</a:t>
            </a:r>
          </a:p>
          <a:p>
            <a:pPr marL="0" lvl="0" indent="0" algn="ctr">
              <a:lnSpc>
                <a:spcPts val="1977"/>
              </a:lnSpc>
              <a:spcBef>
                <a:spcPct val="0"/>
              </a:spcBef>
            </a:pPr>
            <a:r>
              <a:rPr lang="en-US" sz="141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Liveness detection bypassed across jurisdictions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90600"/>
            <a:ext cx="241066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THREATS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28934" y="990600"/>
            <a:ext cx="416740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55241" y="2565048"/>
            <a:ext cx="9977517" cy="1576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1"/>
              </a:lnSpc>
            </a:pPr>
            <a:r>
              <a:rPr lang="en-US" sz="588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CONTEMPORARY THREAT LANDSCAPE (2023-2025)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1286" y="4925160"/>
            <a:ext cx="1576154" cy="80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1"/>
              </a:lnSpc>
            </a:pPr>
            <a:r>
              <a:rPr lang="en-US" sz="588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24559" y="4925160"/>
            <a:ext cx="1576154" cy="805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1"/>
              </a:lnSpc>
            </a:pPr>
            <a:r>
              <a:rPr lang="en-US" sz="588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29327" y="1896230"/>
            <a:ext cx="7429346" cy="28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0"/>
              </a:lnSpc>
              <a:spcBef>
                <a:spcPct val="0"/>
              </a:spcBef>
            </a:pPr>
            <a:r>
              <a:rPr lang="en-US" sz="1721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Attack Vectors Expanding Rapidly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146" y="3273562"/>
            <a:ext cx="5899603" cy="5195588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028700" y="2502004"/>
            <a:ext cx="142291" cy="2291579"/>
            <a:chOff x="0" y="0"/>
            <a:chExt cx="37476" cy="603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76" cy="603543"/>
            </a:xfrm>
            <a:custGeom>
              <a:avLst/>
              <a:gdLst/>
              <a:ahLst/>
              <a:cxnLst/>
              <a:rect l="l" t="t" r="r" b="b"/>
              <a:pathLst>
                <a:path w="37476" h="603543">
                  <a:moveTo>
                    <a:pt x="0" y="0"/>
                  </a:moveTo>
                  <a:lnTo>
                    <a:pt x="37476" y="0"/>
                  </a:lnTo>
                  <a:lnTo>
                    <a:pt x="37476" y="603543"/>
                  </a:lnTo>
                  <a:lnTo>
                    <a:pt x="0" y="603543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7476" cy="641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5796295"/>
            <a:ext cx="142291" cy="2291579"/>
            <a:chOff x="0" y="0"/>
            <a:chExt cx="37476" cy="603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476" cy="603543"/>
            </a:xfrm>
            <a:custGeom>
              <a:avLst/>
              <a:gdLst/>
              <a:ahLst/>
              <a:cxnLst/>
              <a:rect l="l" t="t" r="r" b="b"/>
              <a:pathLst>
                <a:path w="37476" h="603543">
                  <a:moveTo>
                    <a:pt x="0" y="0"/>
                  </a:moveTo>
                  <a:lnTo>
                    <a:pt x="37476" y="0"/>
                  </a:lnTo>
                  <a:lnTo>
                    <a:pt x="37476" y="603543"/>
                  </a:lnTo>
                  <a:lnTo>
                    <a:pt x="0" y="603543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7476" cy="641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928934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990600"/>
            <a:ext cx="2410664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28934" y="990600"/>
            <a:ext cx="416740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DEVELOPMENTS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3802" y="3319967"/>
            <a:ext cx="5321097" cy="1731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1"/>
              </a:lnSpc>
            </a:pPr>
            <a:r>
              <a:rPr lang="en-US" sz="64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FUTURE DEVELOPMENTS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56586" y="2493938"/>
            <a:ext cx="1224677" cy="72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87"/>
              </a:lnSpc>
            </a:pPr>
            <a:r>
              <a:rPr lang="en-US" sz="537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31101" y="2528991"/>
            <a:ext cx="5765237" cy="32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2"/>
              </a:lnSpc>
              <a:spcBef>
                <a:spcPct val="0"/>
              </a:spcBef>
            </a:pPr>
            <a:r>
              <a:rPr lang="en-US" sz="1887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Emerging Threats 2025-2030+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88770" y="7052823"/>
            <a:ext cx="5707568" cy="158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2025-2027: Real-time mobile deepfakes enable live call fraud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2025-2026: C2PA cryptographic media provenance standards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2025+: EU AI Act enforcement requires transparency labeling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2030+: Quantum-accelerated generation poses critical threat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6586" y="3758532"/>
            <a:ext cx="3118519" cy="78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Real-time mobile deepfake generation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Live call fraud capabilities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56586" y="7052823"/>
            <a:ext cx="3118519" cy="105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AI detection at scale by 2026-2028</a:t>
            </a:r>
          </a:p>
          <a:p>
            <a:pPr marL="0" lvl="0" indent="0" algn="l">
              <a:lnSpc>
                <a:spcPts val="2167"/>
              </a:lnSpc>
              <a:spcBef>
                <a:spcPct val="0"/>
              </a:spcBef>
            </a:pPr>
            <a:r>
              <a:rPr lang="en-US" sz="154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Edge computing expands attack surface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2411" y="2281772"/>
            <a:ext cx="4019574" cy="6976528"/>
            <a:chOff x="0" y="0"/>
            <a:chExt cx="548004" cy="9511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004" cy="951137"/>
            </a:xfrm>
            <a:custGeom>
              <a:avLst/>
              <a:gdLst/>
              <a:ahLst/>
              <a:cxnLst/>
              <a:rect l="l" t="t" r="r" b="b"/>
              <a:pathLst>
                <a:path w="548004" h="951137">
                  <a:moveTo>
                    <a:pt x="0" y="0"/>
                  </a:moveTo>
                  <a:lnTo>
                    <a:pt x="548004" y="0"/>
                  </a:lnTo>
                  <a:lnTo>
                    <a:pt x="548004" y="951137"/>
                  </a:lnTo>
                  <a:lnTo>
                    <a:pt x="0" y="951137"/>
                  </a:lnTo>
                  <a:close/>
                </a:path>
              </a:pathLst>
            </a:custGeom>
            <a:blipFill>
              <a:blip r:embed="rId2"/>
              <a:stretch>
                <a:fillRect t="-540" b="-5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15898" y="2281772"/>
            <a:ext cx="4019574" cy="6976528"/>
            <a:chOff x="0" y="0"/>
            <a:chExt cx="548004" cy="9511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8004" cy="951137"/>
            </a:xfrm>
            <a:custGeom>
              <a:avLst/>
              <a:gdLst/>
              <a:ahLst/>
              <a:cxnLst/>
              <a:rect l="l" t="t" r="r" b="b"/>
              <a:pathLst>
                <a:path w="548004" h="951137">
                  <a:moveTo>
                    <a:pt x="0" y="0"/>
                  </a:moveTo>
                  <a:lnTo>
                    <a:pt x="548004" y="0"/>
                  </a:lnTo>
                  <a:lnTo>
                    <a:pt x="548004" y="951137"/>
                  </a:lnTo>
                  <a:lnTo>
                    <a:pt x="0" y="951137"/>
                  </a:lnTo>
                  <a:close/>
                </a:path>
              </a:pathLst>
            </a:custGeom>
            <a:blipFill>
              <a:blip r:embed="rId3"/>
              <a:stretch>
                <a:fillRect t="-540" b="-5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929812" y="7753390"/>
            <a:ext cx="2428375" cy="600445"/>
            <a:chOff x="0" y="0"/>
            <a:chExt cx="524612" cy="1297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4612" cy="129717"/>
            </a:xfrm>
            <a:custGeom>
              <a:avLst/>
              <a:gdLst/>
              <a:ahLst/>
              <a:cxnLst/>
              <a:rect l="l" t="t" r="r" b="b"/>
              <a:pathLst>
                <a:path w="524612" h="129717">
                  <a:moveTo>
                    <a:pt x="0" y="0"/>
                  </a:moveTo>
                  <a:lnTo>
                    <a:pt x="524612" y="0"/>
                  </a:lnTo>
                  <a:lnTo>
                    <a:pt x="524612" y="129717"/>
                  </a:lnTo>
                  <a:lnTo>
                    <a:pt x="0" y="129717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24612" cy="177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000125"/>
            <a:ext cx="2410664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DEEPFAKE TE15</a:t>
            </a:r>
          </a:p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CHNOLOGY AS A CYBERSECURITY THREAT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28934" y="990600"/>
            <a:ext cx="4167404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IE2092 CYBER SECURITY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29327" y="2813108"/>
            <a:ext cx="7429346" cy="25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55"/>
              </a:lnSpc>
              <a:spcBef>
                <a:spcPct val="0"/>
              </a:spcBef>
            </a:pPr>
            <a:r>
              <a:rPr lang="en-US" sz="1539" b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Key Insights and Responses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2028" y="3565984"/>
            <a:ext cx="7243943" cy="134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0"/>
              </a:lnSpc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 AND RECOMMENDATIONS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44666" y="6274593"/>
            <a:ext cx="7314007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Deepfakes evolved from research to operational cybersecurity threat</a:t>
            </a:r>
          </a:p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Confirmed losses: $25M Hong Kong fraud, €220k UK voice cloning</a:t>
            </a:r>
          </a:p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Attack sophistication consistently outpaces defensive measures</a:t>
            </a:r>
          </a:p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Recommendations: AI-driven detection, cryptographic provenance</a:t>
            </a:r>
          </a:p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 Multimodal authentication, legal frameworks, media literacy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01398" y="7874225"/>
            <a:ext cx="1885204" cy="215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68"/>
              </a:lnSpc>
              <a:spcBef>
                <a:spcPct val="0"/>
              </a:spcBef>
            </a:pPr>
            <a:r>
              <a:rPr lang="en-US" sz="1263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3630347" y="1166495"/>
            <a:ext cx="9135625" cy="0"/>
          </a:xfrm>
          <a:prstGeom prst="line">
            <a:avLst/>
          </a:prstGeom>
          <a:ln w="28575" cap="flat">
            <a:solidFill>
              <a:srgbClr val="38B6FF"/>
            </a:solidFill>
            <a:prstDash val="solid"/>
            <a:headEnd type="diamond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2765972" y="899739"/>
            <a:ext cx="4493328" cy="543035"/>
            <a:chOff x="0" y="0"/>
            <a:chExt cx="970713" cy="1173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0713" cy="117314"/>
            </a:xfrm>
            <a:custGeom>
              <a:avLst/>
              <a:gdLst/>
              <a:ahLst/>
              <a:cxnLst/>
              <a:rect l="l" t="t" r="r" b="b"/>
              <a:pathLst>
                <a:path w="970713" h="117314">
                  <a:moveTo>
                    <a:pt x="0" y="0"/>
                  </a:moveTo>
                  <a:lnTo>
                    <a:pt x="970713" y="0"/>
                  </a:lnTo>
                  <a:lnTo>
                    <a:pt x="970713" y="117314"/>
                  </a:lnTo>
                  <a:lnTo>
                    <a:pt x="0" y="117314"/>
                  </a:lnTo>
                  <a:close/>
                </a:path>
              </a:pathLst>
            </a:custGeom>
            <a:solidFill>
              <a:srgbClr val="38B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970713" cy="164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438738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0" y="0"/>
                </a:moveTo>
                <a:lnTo>
                  <a:pt x="7315200" y="0"/>
                </a:lnTo>
                <a:lnTo>
                  <a:pt x="7315200" y="1901952"/>
                </a:lnTo>
                <a:lnTo>
                  <a:pt x="0" y="1901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-2245207" y="9258300"/>
            <a:ext cx="7315200" cy="1901952"/>
          </a:xfrm>
          <a:custGeom>
            <a:avLst/>
            <a:gdLst/>
            <a:ahLst/>
            <a:cxnLst/>
            <a:rect l="l" t="t" r="r" b="b"/>
            <a:pathLst>
              <a:path w="7315200" h="1901952">
                <a:moveTo>
                  <a:pt x="7315200" y="0"/>
                </a:moveTo>
                <a:lnTo>
                  <a:pt x="0" y="0"/>
                </a:lnTo>
                <a:lnTo>
                  <a:pt x="0" y="1901952"/>
                </a:lnTo>
                <a:lnTo>
                  <a:pt x="7315200" y="1901952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990600"/>
            <a:ext cx="2410664" cy="3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H.M.AAQIB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28934" y="990600"/>
            <a:ext cx="4167404" cy="32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 u="none" strike="noStrik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IT24102514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60038" y="3146967"/>
            <a:ext cx="12567924" cy="2245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43"/>
              </a:lnSpc>
            </a:pPr>
            <a:r>
              <a:rPr lang="en-US" sz="1648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0038" y="5425390"/>
            <a:ext cx="12567924" cy="2245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43"/>
              </a:lnSpc>
            </a:pPr>
            <a:r>
              <a:rPr lang="en-US" sz="16483">
                <a:solidFill>
                  <a:srgbClr val="38B6FF"/>
                </a:solidFill>
                <a:latin typeface="Anton"/>
                <a:ea typeface="Anton"/>
                <a:cs typeface="Anton"/>
                <a:sym typeface="Anton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643</Words>
  <Application>Microsoft Office PowerPoint</Application>
  <PresentationFormat>Custom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DM Sans Bold</vt:lpstr>
      <vt:lpstr>Arial</vt:lpstr>
      <vt:lpstr>Anton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Cybersecurity Threat Presentation</dc:title>
  <dc:creator>USER</dc:creator>
  <cp:lastModifiedBy>Mohamed Aaqib</cp:lastModifiedBy>
  <cp:revision>2</cp:revision>
  <dcterms:created xsi:type="dcterms:W3CDTF">2006-08-16T00:00:00Z</dcterms:created>
  <dcterms:modified xsi:type="dcterms:W3CDTF">2026-04-27T09:41:32Z</dcterms:modified>
  <dc:identifier>DAHICHNkt_M</dc:identifier>
</cp:coreProperties>
</file>